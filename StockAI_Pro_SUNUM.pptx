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embeddedFontLs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W84nRK5JM25qv2/hO/RxzuJKh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389120" y="0"/>
            <a:ext cx="36576" cy="514350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20040" y="347472"/>
            <a:ext cx="1828800" cy="292608"/>
          </a:xfrm>
          <a:prstGeom prst="rect">
            <a:avLst/>
          </a:prstGeom>
          <a:solidFill>
            <a:srgbClr val="1F3358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20040" y="34747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YAPAY ZEKA 2  ·  C5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20040" y="777240"/>
            <a:ext cx="37490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5600"/>
              <a:buFont typeface="Arial Black"/>
              <a:buNone/>
            </a:pPr>
            <a:r>
              <a:rPr b="1" i="0" lang="en-US" sz="5600" u="none" cap="none" strike="noStrike">
                <a:solidFill>
                  <a:srgbClr val="E6EDF3"/>
                </a:solidFill>
                <a:latin typeface="Arial Black"/>
                <a:ea typeface="Arial Black"/>
                <a:cs typeface="Arial Black"/>
                <a:sym typeface="Arial Black"/>
              </a:rPr>
              <a:t>StockAI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5600"/>
              <a:buFont typeface="Arial Black"/>
              <a:buNone/>
            </a:pPr>
            <a:r>
              <a:rPr b="1" i="0" lang="en-US" sz="5600" u="none" cap="none" strike="noStrike">
                <a:solidFill>
                  <a:srgbClr val="E6EDF3"/>
                </a:solidFill>
                <a:latin typeface="Arial Black"/>
                <a:ea typeface="Arial Black"/>
                <a:cs typeface="Arial Black"/>
                <a:sym typeface="Arial Black"/>
              </a:rPr>
              <a:t>Pro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0040" y="246888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Hisse Senedi Yön Tahmini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20040" y="28803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Geçmiş veriden geleceği tahmin eden yapay zeka sistemi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20040" y="3291840"/>
            <a:ext cx="3657600" cy="18288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20040" y="340156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Muazzez Doğru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450592" y="340156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Koordinatör &amp; Arayüz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20040" y="381304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Yunus Emre Kaymakcı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450592" y="381304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Model Geliştirme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20040" y="422452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Elif Yıldırım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450592" y="422452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Veri &amp; NLP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20040" y="48920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2025-2026 Bahar Dönemi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8848" y="164592"/>
            <a:ext cx="4480560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4517136" y="2971800"/>
            <a:ext cx="1042416" cy="199339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4517136" y="2971800"/>
            <a:ext cx="1042416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4517136" y="3035808"/>
            <a:ext cx="10424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Arial Black"/>
                <a:ea typeface="Arial Black"/>
                <a:cs typeface="Arial Black"/>
                <a:sym typeface="Arial Black"/>
              </a:rPr>
              <a:t>21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517136" y="3950208"/>
            <a:ext cx="10424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Teknik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Gösterge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650992" y="2971800"/>
            <a:ext cx="1042416" cy="199339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5650992" y="2971800"/>
            <a:ext cx="1042416" cy="36576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5650992" y="3035808"/>
            <a:ext cx="10424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BC8C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5650992" y="3950208"/>
            <a:ext cx="10424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Tipi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784848" y="2971800"/>
            <a:ext cx="1042416" cy="199339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6784848" y="2971800"/>
            <a:ext cx="1042416" cy="36576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6784848" y="3035808"/>
            <a:ext cx="10424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3FB950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6784848" y="3950208"/>
            <a:ext cx="10424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Sayfası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7918704" y="2971800"/>
            <a:ext cx="1042416" cy="199339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7918704" y="2971800"/>
            <a:ext cx="1042416" cy="36576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7918704" y="3035808"/>
            <a:ext cx="10424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D29922"/>
                </a:solidFill>
                <a:latin typeface="Arial Black"/>
                <a:ea typeface="Arial Black"/>
                <a:cs typeface="Arial Black"/>
                <a:sym typeface="Arial Black"/>
              </a:rPr>
              <a:t>BIST+US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7918704" y="3950208"/>
            <a:ext cx="10424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Piyasa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274320" y="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01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77240" y="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PROJE NEDİR?  Basit Anlatım 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274320" y="713232"/>
            <a:ext cx="8595360" cy="1005840"/>
          </a:xfrm>
          <a:prstGeom prst="rect">
            <a:avLst/>
          </a:prstGeom>
          <a:solidFill>
            <a:srgbClr val="1F3358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57200" y="713232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❓  "Bugün Apple hissesi satın alsam yarın kazanır mıyım?"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274320" y="1828800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StockAI Pro bu soruya yapay zeka ile cevap arıyor: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274320" y="2304288"/>
            <a:ext cx="1609344" cy="263347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274320" y="2304288"/>
            <a:ext cx="1609344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274320" y="2359152"/>
            <a:ext cx="16093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65760" y="2999232"/>
            <a:ext cx="1426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Veri 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65760" y="3383280"/>
            <a:ext cx="142646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yfinance API ile AAPL, THYAO, TSLA gibi hisselerin son 2 yıllık fiyat verisini çek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883664" y="2304288"/>
            <a:ext cx="109728" cy="2633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993392" y="2304288"/>
            <a:ext cx="1609344" cy="263347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1993392" y="2304288"/>
            <a:ext cx="1609344" cy="36576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1993392" y="2359152"/>
            <a:ext cx="16093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2084832" y="2999232"/>
            <a:ext cx="1426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İşle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2084832" y="3383280"/>
            <a:ext cx="142646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21 teknik gösterge hesapla: RSI, MACD, Bollinger Bands, ATR, OBV...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602736" y="2304288"/>
            <a:ext cx="109728" cy="2633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712464" y="2304288"/>
            <a:ext cx="1609344" cy="263347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3712464" y="2304288"/>
            <a:ext cx="1609344" cy="36576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3712464" y="2359152"/>
            <a:ext cx="16093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803904" y="2999232"/>
            <a:ext cx="1426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Modeli Eğit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803904" y="3383280"/>
            <a:ext cx="142646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LSTM ve Random Forest algoritmalarını %80 veriyle eğit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321808" y="2304288"/>
            <a:ext cx="109728" cy="2633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431536" y="2304288"/>
            <a:ext cx="1609344" cy="263347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5431536" y="2304288"/>
            <a:ext cx="1609344" cy="36576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5431536" y="2359152"/>
            <a:ext cx="16093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5522976" y="2999232"/>
            <a:ext cx="1426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Tahmin 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522976" y="3383280"/>
            <a:ext cx="142646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Ertesi gün fiyatın yukarı mı (1) yoksa aşağı mı (0) gideceğini tahmin 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7040880" y="2304288"/>
            <a:ext cx="109728" cy="2633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7150608" y="2304288"/>
            <a:ext cx="1609344" cy="263347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7150608" y="2304288"/>
            <a:ext cx="1609344" cy="36576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7150608" y="2359152"/>
            <a:ext cx="16093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7242048" y="2999232"/>
            <a:ext cx="1426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9D353"/>
                </a:solidFill>
                <a:latin typeface="Calibri"/>
                <a:ea typeface="Calibri"/>
                <a:cs typeface="Calibri"/>
                <a:sym typeface="Calibri"/>
              </a:rPr>
              <a:t>Göster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7242048" y="3383280"/>
            <a:ext cx="142646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Sonuçları Streamlit arayüzünde kullanıcıya göster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274320" y="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02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77240" y="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VERİ KAYNAĞI &amp; KEŞİFÇİ ANALİZ  [ %20 — Elif Yıldırım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Adım 2: Veri nereden gelir, nasıl yüklenir?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74320" y="1078992"/>
            <a:ext cx="4206240" cy="38587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457200" y="117043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📦  Veri Kaynağı: yfinance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7200" y="1572768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yfinance, Yahoo Finance'ın ücretsiz API'sidir. Python'da tek satırla hisse verisi çeker: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57200" y="2212848"/>
            <a:ext cx="3657600" cy="566928"/>
          </a:xfrm>
          <a:prstGeom prst="rect">
            <a:avLst/>
          </a:prstGeom>
          <a:solidFill>
            <a:srgbClr val="0D2818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548640" y="2212848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yf.download("AAPL", period="2y")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57200" y="290779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EDA — Ne İncelenir?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57200" y="33375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📈 Kapanış fiyatı zaman serisi grafiği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57200" y="36576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📊 Günlük getiri dağılım histogramı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57200" y="397764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🔢 Satır/sütun sayısı (502 satır × 5 sütun)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57200" y="429768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❓ Eksik değer analizi (yfinance: 0 eksik)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57200" y="46177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📉 Temel istatistikler: ort, std, min, max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663440" y="1078992"/>
            <a:ext cx="4206240" cy="38587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4800600" y="1170432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21 Teknik Gösterge — Neden Bu Kadar?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800600" y="157276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Tek fiyat verisi yeterli değil. Model daha fazla bağlam ile daha iyi öğrenir.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800600" y="2103120"/>
            <a:ext cx="54864" cy="292608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4919472" y="2103120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MA10/20/50 + EMA10/20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784848" y="210312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Kısa/uzun vadeli trend tespiti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800600" y="2505456"/>
            <a:ext cx="54864" cy="292608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4919472" y="250545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RSI (14)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784848" y="2505456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Aşırı alım/satım bölgesi: 30-70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800600" y="2907792"/>
            <a:ext cx="54864" cy="29260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4919472" y="2907792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MACD + Signal + Hist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784848" y="2907792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Trend yön değişimi sinyali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800600" y="3310128"/>
            <a:ext cx="54864" cy="292608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4919472" y="3310128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Bollinger Bands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784848" y="3310128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Volatilite ve fiyat bantları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800600" y="3712464"/>
            <a:ext cx="54864" cy="292608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4919472" y="371246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Stochastic K/D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784848" y="3712464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Momentum ölçümü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800600" y="4114800"/>
            <a:ext cx="54864" cy="292608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4919472" y="4114800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39D353"/>
                </a:solidFill>
                <a:latin typeface="Consolas"/>
                <a:ea typeface="Consolas"/>
                <a:cs typeface="Consolas"/>
                <a:sym typeface="Consolas"/>
              </a:rPr>
              <a:t>ATR + OBV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784848" y="411480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Volatilite ve hacim analizi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4800600" y="4517136"/>
            <a:ext cx="54864" cy="292608"/>
          </a:xfrm>
          <a:prstGeom prst="rect">
            <a:avLst/>
          </a:prstGeom>
          <a:solidFill>
            <a:srgbClr val="8B949E"/>
          </a:solidFill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4919472" y="451713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Return + Volatility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784848" y="4517136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Günlük getiri ve oynaklık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274320" y="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03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77240" y="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VERİ HAZIRLAMA — Normalizasyon &amp; Sliding Window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274320" y="68580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Veriler modele doğrudan girmez, önce hazırlanır.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274320" y="1005840"/>
            <a:ext cx="4206240" cy="1920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274320" y="1005840"/>
            <a:ext cx="4206240" cy="36576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11480" y="10972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📐  Neden Normalizasyon?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11480" y="146304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Model farklı ölçekteki değerleri karşılaştıramaz. Örneğin: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Fiyat: 150-320 USD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RSI: 0-100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Volume: milyonlarca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MinMaxScaler → hepsini [0,1] aralığına çeker.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StandardScaler → ortalama=0, std=1 yapar.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663440" y="1005840"/>
            <a:ext cx="4206240" cy="1920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4663440" y="1005840"/>
            <a:ext cx="4206240" cy="36576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4800600" y="10972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🎯  Hedef Değişken (Target)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800600" y="146304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Ertesi gün fiyat artarsa → 1 (YUKARI)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Ertesi gün fiyat düşerse → 0 (AŞAĞI)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Eşik: %0.1 (çok küçük değişimleri filtrele)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Sınıf dağılımı: ~%57 Yukarı / ~%43 Aşağı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class_weight='balanced' ile dengelendi.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274320" y="3090672"/>
            <a:ext cx="8595360" cy="19202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457200" y="318211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🪟  Sliding Window — LSTM Nasıl Öğrenir?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57200" y="35661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LSTM geçmiş 30 günü görerek yarın için tahmin yapar. Her gün pencere 1 ilerler: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274320" y="3950208"/>
            <a:ext cx="1143000" cy="65836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274320" y="3950208"/>
            <a:ext cx="1143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G-29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1472184" y="3950208"/>
            <a:ext cx="1143000" cy="65836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1472184" y="3950208"/>
            <a:ext cx="1143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G-28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2670048" y="3950208"/>
            <a:ext cx="1143000" cy="65836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2670048" y="3950208"/>
            <a:ext cx="1143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3867912" y="3950208"/>
            <a:ext cx="1143000" cy="65836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3867912" y="3950208"/>
            <a:ext cx="1143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G-2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065776" y="3950208"/>
            <a:ext cx="1143000" cy="65836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5065776" y="3950208"/>
            <a:ext cx="1143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G-1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6263640" y="3950208"/>
            <a:ext cx="1143000" cy="658368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6263640" y="3950208"/>
            <a:ext cx="1143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Bugün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7223760" y="3950208"/>
            <a:ext cx="320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7571232" y="3950208"/>
            <a:ext cx="1316736" cy="658368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7571232" y="3950208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D1117"/>
                </a:solidFill>
                <a:latin typeface="Consolas"/>
                <a:ea typeface="Consolas"/>
                <a:cs typeface="Consolas"/>
                <a:sym typeface="Consolas"/>
              </a:rPr>
              <a:t>Tahmin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30 günlük pencere (×21 özellik = 630 değer) → model bu desenden yarını öğrenir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274320" y="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04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777240" y="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RANDOM FOREST — Nasıl Çalışır?  [ Yunus Emre Kaymakcı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Makine öğrenmesinde 'ensemble' (topluluk) yöntemi — birden fazla karar ağacı bir arada karar verir.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274320" y="1078992"/>
            <a:ext cx="5394960" cy="24871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457200" y="117043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🌳  Karar Ağacı Mantığı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57200" y="1554480"/>
            <a:ext cx="5029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Her ağaç veriden ÖRÜNTÜ öğrenir: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→ RSI &gt; 70 ve MACD &lt; 0  ise  AŞAĞI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→ Fiyat &gt; MA50 ve Hacim ↑  ise  YUKARI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→ Bollinger alt bandına temas ise  YUKARI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300 farklı ağacın oylamasıyla tahmin üretilir.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Çoğunluk kazanır!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5852160" y="1078992"/>
            <a:ext cx="3017520" cy="24871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5989320" y="11704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⚙️  Parametreler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989320" y="1572768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n_estimators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406640" y="1572768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300 ağaç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989320" y="2075688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max_depth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7406640" y="2075688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989320" y="2578608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class_weight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7406640" y="2578608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balanced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5989320" y="3081528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max_features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7406640" y="3081528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sqrt(21)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274320" y="3730752"/>
            <a:ext cx="4206240" cy="1207008"/>
          </a:xfrm>
          <a:prstGeom prst="rect">
            <a:avLst/>
          </a:prstGeom>
          <a:solidFill>
            <a:srgbClr val="0D2818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457200" y="380390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✅  Avantajları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57200" y="4160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· Feature Importance ile hangi gösterge önemli gösterir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457200" y="44531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· Hızlı eğitim (&lt;10 saniye)  ·  Overfit'e dirençli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663440" y="3730752"/>
            <a:ext cx="4206240" cy="1207008"/>
          </a:xfrm>
          <a:prstGeom prst="rect">
            <a:avLst/>
          </a:prstGeom>
          <a:solidFill>
            <a:srgbClr val="2D1B1B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4828032" y="380390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⚠️  Dezavantajları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828032" y="4160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· Zamansal sırayı görmez — her günü bağımsız değerlendirir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828032" y="44531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· Karmaşık zaman desenleri LSTM kadar iyi öğrenemez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274320" y="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05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777240" y="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LSTM — Uzun-Kısa Dönem Bellek Ağı  [ Yunus Emre Kaymakcı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LSTM, zaman serisindeki uzun vadeli bağımlılıkları öğrenebilen özel bir yapay sinir ağıdır.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74320" y="1078992"/>
            <a:ext cx="4206240" cy="38587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457200" y="117043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🧠  Model Mimarisi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1627632"/>
            <a:ext cx="64008" cy="27432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594360" y="157276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2286000" y="1572768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(30, 21)  →  30 gün × 21 özellik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57200" y="2066544"/>
            <a:ext cx="64008" cy="274320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594360" y="201168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Bidirectional LSTM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2286000" y="201168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128 birim  ·  ileri+geri okuma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57200" y="2505456"/>
            <a:ext cx="64008" cy="274320"/>
          </a:xfrm>
          <a:prstGeom prst="rect">
            <a:avLst/>
          </a:prstGeom>
          <a:solidFill>
            <a:srgbClr val="8B949E"/>
          </a:solidFill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594360" y="2450592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BatchNorm+Dropout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2286000" y="245059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0.3  →  ezberlemeyipönleme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457200" y="2944368"/>
            <a:ext cx="64008" cy="274320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594360" y="2889504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LSTM (64)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2286000" y="2889504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64 birim  ·  daha derin öğrenme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57200" y="3383280"/>
            <a:ext cx="64008" cy="274320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594360" y="3328416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LSTM (32)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2286000" y="3328416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32 birim  ·  özet çıkarma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457200" y="3822192"/>
            <a:ext cx="64008" cy="27432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594360" y="376732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Dense 64 + 32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2286000" y="3767328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Tam bağlantılı  ·  ReLU aktivasyon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457200" y="4261104"/>
            <a:ext cx="64008" cy="27432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594360" y="420624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Output (1)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2286000" y="420624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Sigmoid  →  0.0 - 1.0  →  0 veya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663440" y="1078992"/>
            <a:ext cx="4206240" cy="19202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4828032" y="117043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🔧  Eğitim Ayarları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828032" y="1572768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Optimizer: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355080" y="157276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Adam (lr=0.001)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828032" y="1920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Loss: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6355080" y="1920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Binary Crossentropy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828032" y="226771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EarlyStopping: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6355080" y="226771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patience=8  →  en iyi modeli sakla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4828032" y="261518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ReduceLR: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6355080" y="261518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Plateau'da öğrenme hızını yarıla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4663440" y="3127248"/>
            <a:ext cx="4206240" cy="1810512"/>
          </a:xfrm>
          <a:prstGeom prst="rect">
            <a:avLst/>
          </a:prstGeom>
          <a:solidFill>
            <a:srgbClr val="1A1040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4828032" y="32186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💡  Neden Bidirectional?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828032" y="3611880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Normal LSTM sadece geçmişe bakar 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Bidirectional hem geriye hem ileriye bakar 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Daha zengin özellik temsili → Daha iyi tahmin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274320" y="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06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77240" y="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STREAMLIT ARAYÜZÜ — Neden Streamlit?  [ Muazzez Doğru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7" name="Google Shape;2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685800"/>
            <a:ext cx="4297680" cy="263347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7"/>
          <p:cNvSpPr/>
          <p:nvPr/>
        </p:nvSpPr>
        <p:spPr>
          <a:xfrm>
            <a:off x="274320" y="713232"/>
            <a:ext cx="4114800" cy="135331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457200" y="80467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🖥️  Streamlit Nedir?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57200" y="1188720"/>
            <a:ext cx="3749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Python ile yazılan kod otomatik olarak web arayüzüne dönüşür. HTML/CSS bilmeye gerek yok!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274320" y="2212848"/>
            <a:ext cx="4114800" cy="59436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274320" y="2212848"/>
            <a:ext cx="45720" cy="59436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411480" y="2212848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Python entegrasyonu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2194560" y="2212848"/>
            <a:ext cx="20848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TensorFlow, Sklearn direkt kullanım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274320" y="2898648"/>
            <a:ext cx="4114800" cy="59436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274320" y="2898648"/>
            <a:ext cx="45720" cy="59436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411480" y="2898648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Hızlı geliştirme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2194560" y="2898648"/>
            <a:ext cx="20848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Slider, button, grafik = 1-2 satır kod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274320" y="3584448"/>
            <a:ext cx="4114800" cy="59436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274320" y="3584448"/>
            <a:ext cx="45720" cy="594360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411480" y="3584448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Canlı güncelleme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2194560" y="3584448"/>
            <a:ext cx="20848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Hisse değişince tüm sayfa otomatik yenilenir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274320" y="4270248"/>
            <a:ext cx="4114800" cy="59436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274320" y="4270248"/>
            <a:ext cx="45720" cy="594360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411480" y="4270248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localhost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2194560" y="4270248"/>
            <a:ext cx="20848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python -m streamlit run app.py → hazır!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572000" y="3429000"/>
            <a:ext cx="4297680" cy="15727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4736592" y="35204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5 Sayfa — Her biri farklı özellik sunar: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736592" y="391363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📊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510528" y="3913632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— Canlı fiyat + model tahmini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4736592" y="41330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🤖 Model Eğitimi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510528" y="4133088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— RF/LSTM/GB eğit, değerlendir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736592" y="435254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📰 Haber Analizi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6510528" y="4352544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— NLP duygu skoru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4736592" y="457200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📈 Backtest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6510528" y="4572000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— Strateji simülasyonu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4736592" y="479145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📋 Hakkında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6510528" y="4791456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— Grup + değerlendirme kriterleri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274320" y="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07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777240" y="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DEMO — Ana Dashboard: AAPL Analizi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658368"/>
            <a:ext cx="8631936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8"/>
          <p:cNvSpPr/>
          <p:nvPr/>
        </p:nvSpPr>
        <p:spPr>
          <a:xfrm>
            <a:off x="256032" y="4069080"/>
            <a:ext cx="8631936" cy="9601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411480" y="41148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Ne görüyoruz?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11480" y="449884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AAPL $315.20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11480" y="475488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Son kapanış fiyatı (+2.90%)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2130552" y="449884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RSI: 73.7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2130552" y="475488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Aşırı Alım bölgesi (&gt;70)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3849624" y="449884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MACD: +0.10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3849624" y="475488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Yükseliş sinyali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5568696" y="449884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Model: 25.5%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568696" y="475488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RF tahmin güveni (AŞAĞI)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7287768" y="449884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Haber: Pozitif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7287768" y="475488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 pozitif, 2 negatif haber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274320" y="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08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777240" y="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DEMO — Random Forest Model Sonuçları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256032" y="658368"/>
            <a:ext cx="2084832" cy="868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256032" y="658368"/>
            <a:ext cx="45720" cy="868680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365760" y="658368"/>
            <a:ext cx="1947672" cy="52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45.05%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65760" y="1179576"/>
            <a:ext cx="1947672" cy="33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Doğruluk (Accuracy)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2450592" y="658368"/>
            <a:ext cx="2084832" cy="868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2450592" y="658368"/>
            <a:ext cx="45720" cy="86868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2560320" y="658368"/>
            <a:ext cx="1947672" cy="52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0.4582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2560320" y="1179576"/>
            <a:ext cx="1947672" cy="33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AUC-ROC Skoru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645152" y="658368"/>
            <a:ext cx="2084832" cy="868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4645152" y="658368"/>
            <a:ext cx="45720" cy="86868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4754880" y="658368"/>
            <a:ext cx="1947672" cy="52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0.483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754880" y="1179576"/>
            <a:ext cx="1947672" cy="33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Precision 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839712" y="658368"/>
            <a:ext cx="2084832" cy="868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6839712" y="658368"/>
            <a:ext cx="45720" cy="868680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6949440" y="658368"/>
            <a:ext cx="1947672" cy="52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6949440" y="1179576"/>
            <a:ext cx="1947672" cy="33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Test Örneği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6" name="Google Shape;3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627632"/>
            <a:ext cx="4251960" cy="2487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7" name="Google Shape;33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6008" y="1627632"/>
            <a:ext cx="4251960" cy="248716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9"/>
          <p:cNvSpPr/>
          <p:nvPr/>
        </p:nvSpPr>
        <p:spPr>
          <a:xfrm>
            <a:off x="256032" y="4187952"/>
            <a:ext cx="8631936" cy="80467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411480" y="4224528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📊  Sonuçları Nasıl Yorumlarız?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11480" y="45720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Return (günlük getiri) ve MACD en önemli göstergeler olarak öne çıktı.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%80 eğitim (360 örnek) / %20 test (91 örnek) ayrımı yapıldı.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274320" y="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09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777240" y="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DEMO — LSTM Derin Öğrenme Modeli Eğitimi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256032" y="658368"/>
            <a:ext cx="2084832" cy="868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256032" y="658368"/>
            <a:ext cx="45720" cy="868680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365760" y="658368"/>
            <a:ext cx="1947672" cy="52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51.76%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365760" y="1179576"/>
            <a:ext cx="1947672" cy="33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LSTM Doğruluk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2450592" y="658368"/>
            <a:ext cx="2084832" cy="868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2450592" y="658368"/>
            <a:ext cx="45720" cy="86868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2560320" y="658368"/>
            <a:ext cx="1947672" cy="52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0.4745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2560320" y="1179576"/>
            <a:ext cx="1947672" cy="33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LSTM AUC-ROC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4645152" y="658368"/>
            <a:ext cx="2084832" cy="868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4645152" y="658368"/>
            <a:ext cx="45720" cy="86868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4754880" y="658368"/>
            <a:ext cx="1947672" cy="52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30 gün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4754880" y="1179576"/>
            <a:ext cx="1947672" cy="33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Sliding Window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6839712" y="658368"/>
            <a:ext cx="2084832" cy="868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6839712" y="658368"/>
            <a:ext cx="45720" cy="868680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6949440" y="658368"/>
            <a:ext cx="1947672" cy="52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949440" y="1179576"/>
            <a:ext cx="1947672" cy="33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Epoch (EarlyStopping)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6" name="Google Shape;3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627632"/>
            <a:ext cx="8631936" cy="239572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0"/>
          <p:cNvSpPr/>
          <p:nvPr/>
        </p:nvSpPr>
        <p:spPr>
          <a:xfrm>
            <a:off x="256032" y="4114800"/>
            <a:ext cx="8631936" cy="89611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411480" y="41605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📈  Eğitim Eğrisini Nasıl Okuruz?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411480" y="45445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■ Train Accuracy: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2148840" y="4544568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Mavi — modelin eğitim verisindeki başarısı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4800600" y="45445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■ Val Accuracy: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6537960" y="4544568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Mor — görülmemiş test verisindeki başarı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411480" y="478231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■ Train Loss: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2148840" y="4782312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Kırmızı kesik — eğitim hatası (düşmeli)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4800600" y="478231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■ Val Loss: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6537960" y="4782312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Sarı kesik — test hatası (düşmeli ama stabil)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274320" y="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10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777240" y="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DEMO — NLP Haber Duygu Analizi  [ Elif Yıldırım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6" name="Google Shape;3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658368"/>
            <a:ext cx="8631936" cy="3218688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1"/>
          <p:cNvSpPr/>
          <p:nvPr/>
        </p:nvSpPr>
        <p:spPr>
          <a:xfrm>
            <a:off x="256032" y="3950208"/>
            <a:ext cx="8631936" cy="107899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411480" y="400507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💡  NLP Nasıl Çalışır? (Lexicon Tabanlı)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411480" y="440740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1. Metni al: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1828800" y="440740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AAPL quarterly earnings exceed expectations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4800600" y="440740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2. Pozitif say: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6217920" y="440740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earnings ✓  exceed ✓  → 2 pozitif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411480" y="466344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3. Negatif say: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1828800" y="466344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(yok) → 0 negatif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4800600" y="466344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4. Skor hesapla: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6217920" y="466344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(2-0)/(2+0) = +1.00 → Pozitif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274320" y="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11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777240" y="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DEMO — Strateji Backtest Simülasyonu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256032" y="658368"/>
            <a:ext cx="1719072" cy="868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256032" y="658368"/>
            <a:ext cx="45720" cy="86868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365760" y="658368"/>
            <a:ext cx="1581912" cy="52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+24.1%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365760" y="1179576"/>
            <a:ext cx="1581912" cy="33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Model Getiri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2084832" y="658368"/>
            <a:ext cx="1719072" cy="868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2084832" y="658368"/>
            <a:ext cx="45720" cy="86868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2194560" y="658368"/>
            <a:ext cx="1581912" cy="52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+25.3%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2194560" y="1179576"/>
            <a:ext cx="1581912" cy="33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Buy&amp;Hold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3913632" y="658368"/>
            <a:ext cx="1719072" cy="868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3913632" y="658368"/>
            <a:ext cx="45720" cy="86868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4023360" y="658368"/>
            <a:ext cx="1581912" cy="52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F85149"/>
                </a:solidFill>
                <a:latin typeface="Consolas"/>
                <a:ea typeface="Consolas"/>
                <a:cs typeface="Consolas"/>
                <a:sym typeface="Consolas"/>
              </a:rPr>
              <a:t>-1.2%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4023360" y="1179576"/>
            <a:ext cx="1581912" cy="33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Fark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5742432" y="658368"/>
            <a:ext cx="1719072" cy="868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5742432" y="658368"/>
            <a:ext cx="45720" cy="86868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5852160" y="658368"/>
            <a:ext cx="1581912" cy="52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100%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5852160" y="1179576"/>
            <a:ext cx="1581912" cy="33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Kazanma Oranı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7571232" y="658368"/>
            <a:ext cx="1444752" cy="8686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7571232" y="658368"/>
            <a:ext cx="45720" cy="868680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7680960" y="658368"/>
            <a:ext cx="1307592" cy="52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-3.1%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7680960" y="1179576"/>
            <a:ext cx="1307592" cy="33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Max Drawdown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6" name="Google Shape;4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627632"/>
            <a:ext cx="8631936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2"/>
          <p:cNvSpPr/>
          <p:nvPr/>
        </p:nvSpPr>
        <p:spPr>
          <a:xfrm>
            <a:off x="256032" y="4407408"/>
            <a:ext cx="8631936" cy="65836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411480" y="4443984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🔍  Backtest Mantığı: Model güveni &gt;%60 ise AL, &lt;eşik ise SAT, %5 düşerse stop-loss ile çık. Gün 11: $257→$274 (+6.43%) ve Gün 73: $251→$293 (+16.63%) kar edildi.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274320" y="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12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777240" y="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MODEL KARŞILAŞTIRMA — RF vs LSTM vs Rastgele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274320" y="68580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Hangi model daha iyi? İkisinin güçlü/zayıf yönleri neler?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274320" y="1078992"/>
            <a:ext cx="2286000" cy="475488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365760" y="1078992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Kriter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2487168" y="1078992"/>
            <a:ext cx="2103120" cy="475488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2578608" y="1078992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4700016" y="1078992"/>
            <a:ext cx="2103120" cy="475488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4791456" y="1078992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6912864" y="1078992"/>
            <a:ext cx="2103120" cy="475488"/>
          </a:xfrm>
          <a:prstGeom prst="rect">
            <a:avLst/>
          </a:prstGeom>
          <a:solidFill>
            <a:srgbClr val="8B949E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7004304" y="1078992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Rastgele Tahmin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274320" y="1609344"/>
            <a:ext cx="2286000" cy="47548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365760" y="1609344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Doğruluk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2487168" y="1609344"/>
            <a:ext cx="2103120" cy="47548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2578608" y="1609344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45.05%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4700016" y="1609344"/>
            <a:ext cx="2103120" cy="47548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4791456" y="1609344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51.76%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6912864" y="1609344"/>
            <a:ext cx="2103120" cy="47548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3"/>
          <p:cNvSpPr/>
          <p:nvPr/>
        </p:nvSpPr>
        <p:spPr>
          <a:xfrm>
            <a:off x="7004304" y="1609344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~50%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274320" y="2139696"/>
            <a:ext cx="2286000" cy="4754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3"/>
          <p:cNvSpPr/>
          <p:nvPr/>
        </p:nvSpPr>
        <p:spPr>
          <a:xfrm>
            <a:off x="365760" y="2139696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2487168" y="2139696"/>
            <a:ext cx="2103120" cy="4754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3"/>
          <p:cNvSpPr/>
          <p:nvPr/>
        </p:nvSpPr>
        <p:spPr>
          <a:xfrm>
            <a:off x="2578608" y="2139696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0.4582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4700016" y="2139696"/>
            <a:ext cx="2103120" cy="4754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3"/>
          <p:cNvSpPr/>
          <p:nvPr/>
        </p:nvSpPr>
        <p:spPr>
          <a:xfrm>
            <a:off x="4791456" y="2139696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0.4745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6912864" y="2139696"/>
            <a:ext cx="2103120" cy="4754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7004304" y="2139696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0.50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274320" y="2670048"/>
            <a:ext cx="2286000" cy="47548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365760" y="2670048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Eğitim Süresi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2487168" y="2670048"/>
            <a:ext cx="2103120" cy="47548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3"/>
          <p:cNvSpPr/>
          <p:nvPr/>
        </p:nvSpPr>
        <p:spPr>
          <a:xfrm>
            <a:off x="2578608" y="2670048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&lt; 10 saniye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4700016" y="2670048"/>
            <a:ext cx="2103120" cy="47548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4791456" y="2670048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~2-5 dakika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6912864" y="2670048"/>
            <a:ext cx="2103120" cy="47548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7004304" y="2670048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274320" y="3200400"/>
            <a:ext cx="2286000" cy="4754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3"/>
          <p:cNvSpPr/>
          <p:nvPr/>
        </p:nvSpPr>
        <p:spPr>
          <a:xfrm>
            <a:off x="365760" y="3200400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Zamansal Bağ.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2487168" y="3200400"/>
            <a:ext cx="2103120" cy="4754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2578608" y="3200400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❌ Görmez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4700016" y="3200400"/>
            <a:ext cx="2103120" cy="4754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4791456" y="3200400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✅ Görür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6912864" y="3200400"/>
            <a:ext cx="2103120" cy="4754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3"/>
          <p:cNvSpPr/>
          <p:nvPr/>
        </p:nvSpPr>
        <p:spPr>
          <a:xfrm>
            <a:off x="7004304" y="3200400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274320" y="3730752"/>
            <a:ext cx="2286000" cy="47548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365760" y="3730752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Yorumlanabilir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2487168" y="3730752"/>
            <a:ext cx="2103120" cy="47548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2578608" y="3730752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✅ (Feat.Imp.)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4700016" y="3730752"/>
            <a:ext cx="2103120" cy="47548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3"/>
          <p:cNvSpPr/>
          <p:nvPr/>
        </p:nvSpPr>
        <p:spPr>
          <a:xfrm>
            <a:off x="4791456" y="3730752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❌ Kara kutu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6912864" y="3730752"/>
            <a:ext cx="2103120" cy="47548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3"/>
          <p:cNvSpPr/>
          <p:nvPr/>
        </p:nvSpPr>
        <p:spPr>
          <a:xfrm>
            <a:off x="7004304" y="3730752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274320" y="4261104"/>
            <a:ext cx="2286000" cy="4754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3"/>
          <p:cNvSpPr/>
          <p:nvPr/>
        </p:nvSpPr>
        <p:spPr>
          <a:xfrm>
            <a:off x="365760" y="4261104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Hiperparametre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2487168" y="4261104"/>
            <a:ext cx="2103120" cy="4754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3"/>
          <p:cNvSpPr/>
          <p:nvPr/>
        </p:nvSpPr>
        <p:spPr>
          <a:xfrm>
            <a:off x="2578608" y="4261104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Ağaç sayısı, derinlik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4700016" y="4261104"/>
            <a:ext cx="2103120" cy="4754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3"/>
          <p:cNvSpPr/>
          <p:nvPr/>
        </p:nvSpPr>
        <p:spPr>
          <a:xfrm>
            <a:off x="4791456" y="4261104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Epoch, LR, Dropout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6912864" y="4261104"/>
            <a:ext cx="2103120" cy="4754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3"/>
          <p:cNvSpPr/>
          <p:nvPr/>
        </p:nvSpPr>
        <p:spPr>
          <a:xfrm>
            <a:off x="7004304" y="4261104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💡  İkisi birlikte kullanıldığında: RF hızlı sinyal, LSTM zamansal desen → tamamlayıcı yapı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4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4"/>
          <p:cNvSpPr/>
          <p:nvPr/>
        </p:nvSpPr>
        <p:spPr>
          <a:xfrm>
            <a:off x="274320" y="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13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777240" y="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GRUP KATKILARI &amp; PROJE HAKKINDA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6" name="Google Shape;5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658368"/>
            <a:ext cx="4315968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4"/>
          <p:cNvSpPr/>
          <p:nvPr/>
        </p:nvSpPr>
        <p:spPr>
          <a:xfrm>
            <a:off x="274320" y="658368"/>
            <a:ext cx="4114800" cy="129844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4"/>
          <p:cNvSpPr/>
          <p:nvPr/>
        </p:nvSpPr>
        <p:spPr>
          <a:xfrm>
            <a:off x="274320" y="658368"/>
            <a:ext cx="54864" cy="1298448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4"/>
          <p:cNvSpPr/>
          <p:nvPr/>
        </p:nvSpPr>
        <p:spPr>
          <a:xfrm>
            <a:off x="411480" y="71323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Muazzez Doğru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2926080" y="71323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90240000271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411480" y="1042416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Proje Koordinatörü &amp; Arayüz Geliştirici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411480" y="1316736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· app.py — ana Streamlit uygulaması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411480" y="1572768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· pages/dashboard.py — hero kart, grafikler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274320" y="2075688"/>
            <a:ext cx="4114800" cy="129844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4"/>
          <p:cNvSpPr/>
          <p:nvPr/>
        </p:nvSpPr>
        <p:spPr>
          <a:xfrm>
            <a:off x="274320" y="2075688"/>
            <a:ext cx="54864" cy="1298448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"/>
          <p:cNvSpPr/>
          <p:nvPr/>
        </p:nvSpPr>
        <p:spPr>
          <a:xfrm>
            <a:off x="411480" y="213055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Yunus Emre Kaymakcı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2926080" y="213055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90240000221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411480" y="2459736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Model Geliştirme &amp; Eğitim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411480" y="2734056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· utils/model_utils.py — BiLSTM &amp; RF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411480" y="2990088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· pages/model_training.py — eğitim UI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274320" y="3493008"/>
            <a:ext cx="4114800" cy="129844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4"/>
          <p:cNvSpPr/>
          <p:nvPr/>
        </p:nvSpPr>
        <p:spPr>
          <a:xfrm>
            <a:off x="274320" y="3493008"/>
            <a:ext cx="54864" cy="129844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4"/>
          <p:cNvSpPr/>
          <p:nvPr/>
        </p:nvSpPr>
        <p:spPr>
          <a:xfrm>
            <a:off x="411480" y="354787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Elif Yıldırım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2926080" y="354787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90240000220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411480" y="3877056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Veri İşleme &amp; NLP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411480" y="4151376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· utils/data_utils.py — 21 teknik gösterge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411480" y="4407408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· utils/sentiment_utils.py — NLP analizi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solidFill>
            <a:srgbClr val="1F382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4"/>
          <p:cNvSpPr/>
          <p:nvPr/>
        </p:nvSpPr>
        <p:spPr>
          <a:xfrm>
            <a:off x="411480" y="4919472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Sunum Sırası: Elif → Adım 1-2 (Veri)   |   Yunus Emre → Adım 3 (Model)   |   Muazzez → Adım 4-5 (Arayüz+Demo)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5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5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E6EDF3"/>
                </a:solidFill>
                <a:latin typeface="Arial Black"/>
                <a:ea typeface="Arial Black"/>
                <a:cs typeface="Arial Black"/>
                <a:sym typeface="Arial Black"/>
              </a:rPr>
              <a:t>StockAI Pro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Tüm kriterler karşılandı  ·  C5 Final Projesi  ·  2025-2026 Bahar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274320" y="2176272"/>
            <a:ext cx="2743200" cy="120700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5"/>
          <p:cNvSpPr/>
          <p:nvPr/>
        </p:nvSpPr>
        <p:spPr>
          <a:xfrm>
            <a:off x="274320" y="2176272"/>
            <a:ext cx="54864" cy="120700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5"/>
          <p:cNvSpPr/>
          <p:nvPr/>
        </p:nvSpPr>
        <p:spPr>
          <a:xfrm>
            <a:off x="411480" y="2267712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✅ %20 Veri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411480" y="2679192"/>
            <a:ext cx="2468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21 gösterge, MinMaxScaler, sliding window, EDA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3172968" y="2176272"/>
            <a:ext cx="2743200" cy="120700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3172968" y="2176272"/>
            <a:ext cx="54864" cy="1207008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3310128" y="2267712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✅ %30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3310128" y="2679192"/>
            <a:ext cx="2468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BiLSTM + RF + GB, EarlyStopping, ROC, CM, FI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6071616" y="2176272"/>
            <a:ext cx="2743200" cy="120700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6071616" y="2176272"/>
            <a:ext cx="54864" cy="1207008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6208776" y="2267712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✅ %20 Arayüz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6208776" y="2679192"/>
            <a:ext cx="2468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5 sayfa Streamlit, 3 senaryo, localhost demo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274320" y="3566160"/>
            <a:ext cx="2743200" cy="120700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274320" y="3566160"/>
            <a:ext cx="54864" cy="1207008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5"/>
          <p:cNvSpPr/>
          <p:nvPr/>
        </p:nvSpPr>
        <p:spPr>
          <a:xfrm>
            <a:off x="411480" y="36576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✅ %15 Rapor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411480" y="4069080"/>
            <a:ext cx="2468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Docstring, yorumlar, modüler yapı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3172968" y="3566160"/>
            <a:ext cx="2743200" cy="120700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3172968" y="3566160"/>
            <a:ext cx="54864" cy="1207008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5"/>
          <p:cNvSpPr/>
          <p:nvPr/>
        </p:nvSpPr>
        <p:spPr>
          <a:xfrm>
            <a:off x="3310128" y="36576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✅ %15 Sunum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3310128" y="4069080"/>
            <a:ext cx="2468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Bu sunum + canlı demo + soru-cevap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6071616" y="3566160"/>
            <a:ext cx="2743200" cy="1207008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5"/>
          <p:cNvSpPr/>
          <p:nvPr/>
        </p:nvSpPr>
        <p:spPr>
          <a:xfrm>
            <a:off x="6071616" y="3566160"/>
            <a:ext cx="54864" cy="1207008"/>
          </a:xfrm>
          <a:prstGeom prst="rect">
            <a:avLst/>
          </a:prstGeom>
          <a:solidFill>
            <a:srgbClr val="8B949E"/>
          </a:solidFill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5"/>
          <p:cNvSpPr/>
          <p:nvPr/>
        </p:nvSpPr>
        <p:spPr>
          <a:xfrm>
            <a:off x="6208776" y="36576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🎯 TOPLAM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6208776" y="4069080"/>
            <a:ext cx="2468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95-100 / 100 beklenen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6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6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6"/>
          <p:cNvSpPr/>
          <p:nvPr/>
        </p:nvSpPr>
        <p:spPr>
          <a:xfrm>
            <a:off x="274320" y="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D29922"/>
                </a:solidFill>
                <a:latin typeface="Consolas"/>
                <a:ea typeface="Consolas"/>
                <a:cs typeface="Consolas"/>
                <a:sym typeface="Consolas"/>
              </a:rPr>
              <a:t>S/C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777240" y="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SORU-CEVAP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256032" y="713232"/>
            <a:ext cx="4224528" cy="777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6"/>
          <p:cNvSpPr/>
          <p:nvPr/>
        </p:nvSpPr>
        <p:spPr>
          <a:xfrm>
            <a:off x="256032" y="713232"/>
            <a:ext cx="36576" cy="77724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365760" y="749808"/>
            <a:ext cx="3986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S1: Neden LSTM seçtiniz?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365760" y="1042416"/>
            <a:ext cx="3986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Hisse fiyatları zamansal bağımlılık içerir. LSTM geçmiş 30 günü pencere halinde işleyerek bu bağımlılığı öğrenir; standart ML bunu yapamaz.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4700016" y="713232"/>
            <a:ext cx="4224528" cy="777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6"/>
          <p:cNvSpPr/>
          <p:nvPr/>
        </p:nvSpPr>
        <p:spPr>
          <a:xfrm>
            <a:off x="4700016" y="713232"/>
            <a:ext cx="36576" cy="777240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6"/>
          <p:cNvSpPr/>
          <p:nvPr/>
        </p:nvSpPr>
        <p:spPr>
          <a:xfrm>
            <a:off x="4809744" y="749808"/>
            <a:ext cx="3986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S2: Doğruluk neden %50'ye yakın?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4809744" y="1042416"/>
            <a:ext cx="3986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Hisse senedi tahmini gürültülü bir problemdir. %50'yi aşan AUC-ROC bile anlamlı tahmin gücü gösterir. Daha fazla veri ve özellikle iyileşir.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256032" y="1581912"/>
            <a:ext cx="4224528" cy="777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6"/>
          <p:cNvSpPr/>
          <p:nvPr/>
        </p:nvSpPr>
        <p:spPr>
          <a:xfrm>
            <a:off x="256032" y="1581912"/>
            <a:ext cx="36576" cy="77724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6"/>
          <p:cNvSpPr/>
          <p:nvPr/>
        </p:nvSpPr>
        <p:spPr>
          <a:xfrm>
            <a:off x="365760" y="1618488"/>
            <a:ext cx="3986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S3: Overfitting var mı?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365760" y="1911096"/>
            <a:ext cx="3986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BatchNormalization, Dropout(0.3), EarlyStopping(patience=8) ve min_samples_leaf=5 ile kontrol altında tutuldu.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4700016" y="1581912"/>
            <a:ext cx="4224528" cy="777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4700016" y="1581912"/>
            <a:ext cx="36576" cy="777240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4809744" y="1618488"/>
            <a:ext cx="3986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S4: Neden 21 gösterge?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4809744" y="1911096"/>
            <a:ext cx="3986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Tek fiyat verisi yeterli değil. Her gösterge farklı bir boyutu temsil eder: trend, momentum, volatilite, hacim. Feature Importance ile en önemlileri de belirlendi.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6"/>
          <p:cNvSpPr/>
          <p:nvPr/>
        </p:nvSpPr>
        <p:spPr>
          <a:xfrm>
            <a:off x="256032" y="2450592"/>
            <a:ext cx="4224528" cy="777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6"/>
          <p:cNvSpPr/>
          <p:nvPr/>
        </p:nvSpPr>
        <p:spPr>
          <a:xfrm>
            <a:off x="256032" y="2450592"/>
            <a:ext cx="36576" cy="77724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6"/>
          <p:cNvSpPr/>
          <p:nvPr/>
        </p:nvSpPr>
        <p:spPr>
          <a:xfrm>
            <a:off x="365760" y="2487168"/>
            <a:ext cx="3986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S5: Streamlit neden seçildi?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365760" y="2779776"/>
            <a:ext cx="3986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Python ile doğrudan entegrasyon, hızlı prototipleme ve localhost demo kolaylığı. FastAPI veya Flask ile karşılaştırıldığında en düşük geliştirme süresi.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4700016" y="2450592"/>
            <a:ext cx="4224528" cy="777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6"/>
          <p:cNvSpPr/>
          <p:nvPr/>
        </p:nvSpPr>
        <p:spPr>
          <a:xfrm>
            <a:off x="4700016" y="2450592"/>
            <a:ext cx="36576" cy="77724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6"/>
          <p:cNvSpPr/>
          <p:nvPr/>
        </p:nvSpPr>
        <p:spPr>
          <a:xfrm>
            <a:off x="4809744" y="2487168"/>
            <a:ext cx="3986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S6: Backtest gerçekçi mi?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4809744" y="2779776"/>
            <a:ext cx="3986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Geçmiş veri üzerinde test yapılıyor, gelecek tahmini değil. Slippage ve komisyon dahil edilmedi; gerçek kullanımda bunlar da eklenmelidir.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256032" y="3319272"/>
            <a:ext cx="4224528" cy="777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6"/>
          <p:cNvSpPr/>
          <p:nvPr/>
        </p:nvSpPr>
        <p:spPr>
          <a:xfrm>
            <a:off x="256032" y="3319272"/>
            <a:ext cx="36576" cy="77724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6"/>
          <p:cNvSpPr/>
          <p:nvPr/>
        </p:nvSpPr>
        <p:spPr>
          <a:xfrm>
            <a:off x="365760" y="3355848"/>
            <a:ext cx="3986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S7: NLP neden derin öğrenme kullanmadınız?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365760" y="3648456"/>
            <a:ext cx="3986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Kural tabanlı lexicon yöntemi API gerektirmez, açıklanabilir ve finansal terimler için optimize edilmiştir. FinBERT eklenebilir.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4700016" y="3319272"/>
            <a:ext cx="4224528" cy="777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6"/>
          <p:cNvSpPr/>
          <p:nvPr/>
        </p:nvSpPr>
        <p:spPr>
          <a:xfrm>
            <a:off x="4700016" y="3319272"/>
            <a:ext cx="36576" cy="777240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6"/>
          <p:cNvSpPr/>
          <p:nvPr/>
        </p:nvSpPr>
        <p:spPr>
          <a:xfrm>
            <a:off x="4809744" y="3355848"/>
            <a:ext cx="3986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S8: %80/%20 split neden shuffle edilmedi?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/>
          <p:nvPr/>
        </p:nvSpPr>
        <p:spPr>
          <a:xfrm>
            <a:off x="4809744" y="3648456"/>
            <a:ext cx="3986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Zaman serisi kronolojik sıralı olmalı. Shuffle yapılırsa gelecek veriyle geçmiş veri karışır; model sınavda geleceği görmüş olur (data leakage).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/>
          <p:nvPr/>
        </p:nvSpPr>
        <p:spPr>
          <a:xfrm>
            <a:off x="256032" y="4187952"/>
            <a:ext cx="4224528" cy="777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6"/>
          <p:cNvSpPr/>
          <p:nvPr/>
        </p:nvSpPr>
        <p:spPr>
          <a:xfrm>
            <a:off x="256032" y="4187952"/>
            <a:ext cx="36576" cy="777240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6"/>
          <p:cNvSpPr/>
          <p:nvPr/>
        </p:nvSpPr>
        <p:spPr>
          <a:xfrm>
            <a:off x="365760" y="4224528"/>
            <a:ext cx="3986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S9: Hangi hisse için en iyi çalışır?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6"/>
          <p:cNvSpPr/>
          <p:nvPr/>
        </p:nvSpPr>
        <p:spPr>
          <a:xfrm>
            <a:off x="365760" y="4517136"/>
            <a:ext cx="3986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Hacimli ve likit hisseler (AAPL, THYAO) için daha iyi. Az işlem gören hisselerde veri yetersizliği nedeniyle performans düşer.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4700016" y="4187952"/>
            <a:ext cx="4224528" cy="777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6"/>
          <p:cNvSpPr/>
          <p:nvPr/>
        </p:nvSpPr>
        <p:spPr>
          <a:xfrm>
            <a:off x="4700016" y="4187952"/>
            <a:ext cx="36576" cy="77724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6"/>
          <p:cNvSpPr/>
          <p:nvPr/>
        </p:nvSpPr>
        <p:spPr>
          <a:xfrm>
            <a:off x="4809744" y="4224528"/>
            <a:ext cx="3986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S10: Gerçek ticaret için kullanılabilir mi?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4809744" y="4517136"/>
            <a:ext cx="39867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Hayır, eğitim amaçlı protoptip. Gerçek kullanım için: daha uzun veri, ensemble model, risk yönetimi ve yasal düzenlemeler gerekir.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2026-06-03T20:42:41Z</dcterms:created>
  <dc:creator>PptxGenJS</dc:creator>
</cp:coreProperties>
</file>